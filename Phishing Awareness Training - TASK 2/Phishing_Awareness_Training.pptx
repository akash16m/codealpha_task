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598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yourself and the purpose: teach practical recognition of phishing attacks and safe response habits.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phishing simply. Emphasize the human element — it exploits trust and psychology, not just technology. Cite stats but mention they vary by source/year.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type briefly. Emphasize that spear phishing and BEC cause the largest financial losses because they're targeted.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fake email step by step, pointing at each red flag. Mention hovering over links (not clicking) to preview the real URL before trusting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hovering over a link live if possible. Stress that HTTPS is not proof of legitimacy — attackers can get certificates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these are the same persuasion levers used in legitimate marketing and sales — attackers just weaponize them. Ask audience for examples they've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well-documented public cases — good for citing sources if asked. Emphasize that even large, sophisticated organizations fall victim; awareness training is a critical defense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habits, not one-time actions. MFA and password managers are the highest-leverage technical controls; verification culture is the highest-leverage human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an incident-response checklist, in order. The key message: speed matters, and reporting isn't optional or embarrassing — it's expected and protects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each question and let the audience answer verbally or via a show of hands before revealing the answer slide. Encourages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answers one at a time, reinforcing the reasoning behind each — not just the correct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these as credible, citable sources if asked where the statistics and guidance came from. Encourage the audience to bookmark CISA and OWASP for ongoing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that phishing defense is a shared responsibility between technology (spam filters, MFA) and human vigilance.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572000" cy="4572000"/>
          </a:xfrm>
          <a:prstGeom prst="ellipse">
            <a:avLst/>
          </a:prstGeom>
          <a:solidFill>
            <a:srgbClr val="1B2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743200" cy="2743200"/>
          </a:xfrm>
          <a:prstGeom prst="ellipse">
            <a:avLst/>
          </a:prstGeom>
          <a:solidFill>
            <a:srgbClr val="1B2A4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10643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Resisting, and Reporting Social Engineering Attacks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Project  |  AKASH</a:t>
            </a:r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criminals impersonate a trusted source — a bank, colleague, or brand — to trick you into revealing sensitive information, clicking malicious links, or transferring money.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3.4B+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37947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worldwide every day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301752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036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017520" y="37947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start with a phishing 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0" y="3017520"/>
            <a:ext cx="2148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31546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349240" y="379476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click a phishing link without training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680960" y="1371600"/>
            <a:ext cx="3840480" cy="3840480"/>
          </a:xfrm>
          <a:prstGeom prst="ellipse">
            <a:avLst/>
          </a:prstGeom>
          <a:solidFill>
            <a:srgbClr val="121A2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423160"/>
            <a:ext cx="1737360" cy="17373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594360" cy="59436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6056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90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fraudulent emails impersonating banks or brands, sent to thousands at once.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17720" y="1463040"/>
            <a:ext cx="594360" cy="59436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366" y="160568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490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17720" y="2148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 using personal details researched about one specific victim.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1463040"/>
            <a:ext cx="594360" cy="59436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846" y="160568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35440" y="14904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458200" y="21488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or senior leadership within an organization.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12028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Email Compromise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777240" y="4663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impersonates an executive/vendor to trick staff into wiring funds.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8912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17720" y="3977640"/>
            <a:ext cx="594360" cy="59436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366" y="412028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94960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&amp; Vishing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617720" y="4663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messages or fraudulent phone calls / voice messages.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22960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58200" y="3977640"/>
            <a:ext cx="594360" cy="59436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0846" y="4120286"/>
            <a:ext cx="309067" cy="30906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35440" y="4005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Phishing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8458200" y="46634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previously-sent email is duplicated with malicious links swapped in.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to check before you click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PayPaI-Support@paypa1-secure.com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 Hours!!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640080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you're account. Failure to verify immediately will result in permanent suspension. Click below to confirm your identity now.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VERIFY MY ACCOUNT NOW ]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http://paypa1-secure-verify.com/login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Team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155448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572" y="1646652"/>
            <a:ext cx="199705" cy="1997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75320" y="15270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domain — 'paypa1' uses the number 1, not letter 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772400" y="246888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572" y="2561052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75320" y="24414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instead of your real name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772400" y="338328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572" y="3475452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3558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&amp; fear ('24 hours', 'suspended')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772400" y="429768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572" y="4389852"/>
            <a:ext cx="199705" cy="19970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42702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Grammar/spelling errors ('you're' instead of 'your')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772400" y="521208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572" y="5304252"/>
            <a:ext cx="199705" cy="19970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75320" y="51846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 doesn't match the real company domain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Fake Websites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0350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90472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716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www.arnaz0n-deals.net/account/verify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2315261"/>
            <a:ext cx="261518" cy="26151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4A72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313432"/>
            <a:ext cx="265176" cy="2651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1762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domain, not the padlock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234440" y="248716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HTTPS/padlock only means the connection is encrypted — fake sites use HTTPS too. Verify the exact domain spelling.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3275381"/>
            <a:ext cx="261518" cy="26151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4A72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273552"/>
            <a:ext cx="265176" cy="2651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31363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typosquatting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234440" y="34472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Lookalike domains swap letters/numbers: 'arnaz0n' instead of 'amazon', or add extra words like '-secure' or '-support'.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4235501"/>
            <a:ext cx="261518" cy="26151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4A72"/>
            </a:solidFill>
            <a:prstDash val="solid"/>
          </a:ln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233672"/>
            <a:ext cx="265176" cy="26517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34440" y="40965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before you click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1234440" y="440740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desktop, hover over a link to preview the real destination URL in the status bar before clicking.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1" y="5195621"/>
            <a:ext cx="261518" cy="26151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4A72"/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193792"/>
            <a:ext cx="265176" cy="26517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1234440" y="50566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credentials from a link</a:t>
            </a:r>
            <a:endParaRPr lang="en-US" sz="1350" dirty="0"/>
          </a:p>
        </p:txBody>
      </p:sp>
      <p:sp>
        <p:nvSpPr>
          <p:cNvPr id="29" name="Text 18"/>
          <p:cNvSpPr/>
          <p:nvPr/>
        </p:nvSpPr>
        <p:spPr>
          <a:xfrm>
            <a:off x="1234440" y="53675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company's known URL directly into your browser instead of clicking through an email link.</a:t>
            </a:r>
            <a:endParaRPr lang="en-US" sz="1050" dirty="0"/>
          </a:p>
        </p:txBody>
      </p:sp>
      <p:sp>
        <p:nvSpPr>
          <p:cNvPr id="30" name="Shape 19"/>
          <p:cNvSpPr/>
          <p:nvPr/>
        </p:nvSpPr>
        <p:spPr>
          <a:xfrm>
            <a:off x="7772400" y="137160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121A2C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0"/>
          <p:cNvSpPr/>
          <p:nvPr/>
        </p:nvSpPr>
        <p:spPr>
          <a:xfrm>
            <a:off x="777240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vs. Fake</a:t>
            </a:r>
            <a:endParaRPr lang="en-US" sz="16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2194560"/>
            <a:ext cx="365760" cy="36576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5496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amazon.com</a:t>
            </a:r>
            <a:endParaRPr lang="en-US" sz="13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269748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8549640" y="2697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arnaz0n-deals.net</a:t>
            </a:r>
            <a:endParaRPr lang="en-US" sz="13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3200400"/>
            <a:ext cx="365760" cy="36576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854964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paypal.com</a:t>
            </a:r>
            <a:endParaRPr lang="en-US" sz="1300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3703320"/>
            <a:ext cx="365760" cy="36576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854964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paypa1-secure.com</a:t>
            </a:r>
            <a:endParaRPr lang="en-US" sz="1300" dirty="0"/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206240"/>
            <a:ext cx="365760" cy="36576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854964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microsoft.com</a:t>
            </a:r>
            <a:endParaRPr lang="en-US" sz="1300" dirty="0"/>
          </a:p>
        </p:txBody>
      </p:sp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4709160"/>
            <a:ext cx="365760" cy="36576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854964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micros0ft-login.net</a:t>
            </a:r>
            <a:endParaRPr lang="en-US" sz="1300" dirty="0"/>
          </a:p>
        </p:txBody>
      </p:sp>
      <p:sp>
        <p:nvSpPr>
          <p:cNvPr id="44" name="Text 27"/>
          <p:cNvSpPr/>
          <p:nvPr/>
        </p:nvSpPr>
        <p:spPr>
          <a:xfrm>
            <a:off x="7955280" y="5394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 domains character by character.</a:t>
            </a:r>
            <a:endParaRPr lang="en-US" sz="1000" dirty="0"/>
          </a:p>
        </p:txBody>
      </p:sp>
      <p:sp>
        <p:nvSpPr>
          <p:cNvPr id="45" name="Text 28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succeeds by manipulating human psychology, not just technology.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B2A4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877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Time Pressure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0449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within 24 hours or your account is locked." Panic short-circuits careful thinking.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B2A47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1920240"/>
            <a:ext cx="548640" cy="54864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0391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5877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30449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bank, or government agency so the target feels obligated to comply.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B2A47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1920240"/>
            <a:ext cx="548640" cy="54864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0391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5877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Familiarity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30449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colleague's name, a known vendor, or a hijacked real email thread to lower suspicion.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B2A47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455371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102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559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 who viewed your profile" or a mysterious invoice attachment that tempts a click.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2062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B2A47"/>
          </a:solidFill>
          <a:ln/>
        </p:spPr>
      </p:sp>
      <p:sp>
        <p:nvSpPr>
          <p:cNvPr id="25" name="Shape 19"/>
          <p:cNvSpPr/>
          <p:nvPr/>
        </p:nvSpPr>
        <p:spPr>
          <a:xfrm>
            <a:off x="4617720" y="4434840"/>
            <a:ext cx="548640" cy="54864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55371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5102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7720" y="5559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legal action, fines, or account/data loss to provoke an immediate reaction.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42062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1B2A47"/>
          </a:solidFill>
          <a:ln/>
        </p:spPr>
      </p:sp>
      <p:sp>
        <p:nvSpPr>
          <p:cNvPr id="30" name="Shape 23"/>
          <p:cNvSpPr/>
          <p:nvPr/>
        </p:nvSpPr>
        <p:spPr>
          <a:xfrm>
            <a:off x="8458200" y="4434840"/>
            <a:ext cx="548640" cy="54864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455371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51023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 / Reward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58200" y="5559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prize winnings, refunds, or investment opportunities that seem too good to pass up.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Case Studies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5361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Facebook — $100M+ BEC Scam (2013–2015)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28800" y="199339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scammer impersonated a hardware vendor and sent fake invoices to finance teams. Both companies wired over $100 million combined before the fraud was discovered.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38328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358079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22783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Breach (2013)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828800" y="368503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phished credentials from a third-party HVAC vendor, then used that access to breach Target's network — exposing 40 million+ payment cards.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507492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52724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49194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SecurID Breach (2011)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828800" y="537667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received a spear-phishing email titled '2011 Recruitment Plan' with a malicious Excel attachment, leading to a major compromise of RSA's token seed database.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813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3258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sender's exact email address, not just the display name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48132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2280" y="13258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URL before clicking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7004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passwords, OTPs, or codes over email or phone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217920" y="2560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670048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12280" y="2514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on all important accounts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703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known websites directly into the browser instead of clicking links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217920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85876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12280" y="370332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 to avoid reusing credentials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47488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43000" y="48920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IT/security instead of replying</a:t>
            </a:r>
            <a:endParaRPr lang="en-US" sz="1250" dirty="0"/>
          </a:p>
        </p:txBody>
      </p:sp>
      <p:sp>
        <p:nvSpPr>
          <p:cNvPr id="24" name="Shape 15"/>
          <p:cNvSpPr/>
          <p:nvPr/>
        </p:nvSpPr>
        <p:spPr>
          <a:xfrm>
            <a:off x="6217920" y="49377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5047488"/>
            <a:ext cx="237744" cy="23774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812280" y="48920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verify through a separate, known communication channel</a:t>
            </a:r>
            <a:endParaRPr lang="en-US" sz="1250" dirty="0"/>
          </a:p>
        </p:txBody>
      </p:sp>
      <p:sp>
        <p:nvSpPr>
          <p:cNvPr id="27" name="Text 17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Someone Clicks a Phishing Link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calm response steps to limit the damage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379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from the internet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malware is suspected, unplug/disable Wi-Fi immediately to stop it spreading or communicating out.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57800" y="18379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passwords immediately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password for the affected account and any others that reuse it, from a different, trusted device.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98280" y="18379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if not already 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multi-factor authentication so a stolen password alone isn't enough to access the account.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3982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the IT/security team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0749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immediately — early reporting lets IT contain the incident before it spreads further.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389120"/>
            <a:ext cx="502920" cy="50292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57800" y="43982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device with antivirus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7720" y="50749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full antivirus/anti-malware scan to detect and remove any malicious software installed.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41605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4389120"/>
            <a:ext cx="502920" cy="502920"/>
          </a:xfrm>
          <a:prstGeom prst="ellipse">
            <a:avLst/>
          </a:prstGeom>
          <a:solidFill>
            <a:srgbClr val="121A2C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98280" y="43982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accounts for activity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50749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bank, email, and work accounts closely for unusual logins or transactions in the following days.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Quiz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phishing detection skills — answers on the next slide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1516075"/>
            <a:ext cx="213970" cy="2139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3716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 email from 'support@micros0ft-verify.com' asks you to reset your password urgently. What should you do?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2430475"/>
            <a:ext cx="213970" cy="2139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padlock icon appears in your browser's address bar. Does that guarantee the site is safe?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46120"/>
            <a:ext cx="411480" cy="41148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3344875"/>
            <a:ext cx="213970" cy="2139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200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Your "CEO" emails asking you to urgently buy gift cards. What's the safest first step?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4259275"/>
            <a:ext cx="213970" cy="2139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41148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You receive an unexpected invoice attachment from an unknown sender. What should you do?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5074920"/>
            <a:ext cx="411480" cy="41148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" y="5173675"/>
            <a:ext cx="213970" cy="2139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5029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 text message claims you've won a prize and asks you to click a link to claim it. Is this safe?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name="adj" fmla="val 50909"/>
            </a:avLst>
          </a:prstGeom>
          <a:solidFill>
            <a:srgbClr val="1B2A47"/>
          </a:solidFill>
          <a:ln/>
        </p:spPr>
      </p:sp>
      <p:sp>
        <p:nvSpPr>
          <p:cNvPr id="20" name="Shape 13"/>
          <p:cNvSpPr/>
          <p:nvPr/>
        </p:nvSpPr>
        <p:spPr>
          <a:xfrm>
            <a:off x="658368" y="6053328"/>
            <a:ext cx="365760" cy="36576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6141110"/>
            <a:ext cx="190195" cy="19019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5989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live? Pause after each question and ask the audience to answer before revealing the solution.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Answers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583741"/>
            <a:ext cx="261518" cy="2615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7276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1353312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Don't click. Verify by typing the official site URL directly or contacting support through a known channel.</a:t>
            </a:r>
            <a:endParaRPr lang="en-US" sz="1180" dirty="0"/>
          </a:p>
        </p:txBody>
      </p:sp>
      <p:sp>
        <p:nvSpPr>
          <p:cNvPr id="9" name="Shape 5"/>
          <p:cNvSpPr/>
          <p:nvPr/>
        </p:nvSpPr>
        <p:spPr>
          <a:xfrm>
            <a:off x="548640" y="226771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31520" y="245059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571293"/>
            <a:ext cx="261518" cy="26151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31520" y="2450592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6032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234086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No. A padlock only confirms an encrypted connection — fake sites can have HTTPS too. Check the domain itself.</a:t>
            </a:r>
            <a:endParaRPr lang="en-US" sz="1180" dirty="0"/>
          </a:p>
        </p:txBody>
      </p:sp>
      <p:sp>
        <p:nvSpPr>
          <p:cNvPr id="15" name="Shape 9"/>
          <p:cNvSpPr/>
          <p:nvPr/>
        </p:nvSpPr>
        <p:spPr>
          <a:xfrm>
            <a:off x="548640" y="325526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31520" y="343814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558845"/>
            <a:ext cx="261518" cy="26151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731520" y="3438144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547872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17320" y="33284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Pause and verify through another channel (call or message the CEO directly) — this is a classic BEC/whaling tactic.</a:t>
            </a:r>
            <a:endParaRPr lang="en-US" sz="1180" dirty="0"/>
          </a:p>
        </p:txBody>
      </p:sp>
      <p:sp>
        <p:nvSpPr>
          <p:cNvPr id="21" name="Shape 13"/>
          <p:cNvSpPr/>
          <p:nvPr/>
        </p:nvSpPr>
        <p:spPr>
          <a:xfrm>
            <a:off x="548640" y="424281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731520" y="442569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546397"/>
            <a:ext cx="261518" cy="261518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31520" y="4425696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535424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417320" y="43159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Don't open it. Confirm the sender's identity independently before opening any unexpected attachment.</a:t>
            </a:r>
            <a:endParaRPr lang="en-US" sz="1180" dirty="0"/>
          </a:p>
        </p:txBody>
      </p:sp>
      <p:sp>
        <p:nvSpPr>
          <p:cNvPr id="27" name="Shape 17"/>
          <p:cNvSpPr/>
          <p:nvPr/>
        </p:nvSpPr>
        <p:spPr>
          <a:xfrm>
            <a:off x="548640" y="523036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731520" y="541324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5533949"/>
            <a:ext cx="261518" cy="261518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731520" y="5413248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522976"/>
            <a:ext cx="292608" cy="29260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417320" y="53035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No. This is smishing — never click links in unsolicited prize/reward texts; delete and report instead.</a:t>
            </a:r>
            <a:endParaRPr lang="en-US" sz="1180" dirty="0"/>
          </a:p>
        </p:txBody>
      </p:sp>
      <p:sp>
        <p:nvSpPr>
          <p:cNvPr id="33" name="Text 21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8A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B2A4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85800"/>
            <a:ext cx="914400" cy="91440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90525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for further reading and verification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297180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3059582"/>
            <a:ext cx="190195" cy="1901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91693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— Cybersecurity and Infrastructure Security Agency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371600" y="32186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cisa.gov  |  Phishing guidance and alerts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22960" y="359359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3681374"/>
            <a:ext cx="190195" cy="1901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53872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Security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371600" y="38404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microsoft.com/security  |  Phishing trends and protection tools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22960" y="421538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4303166"/>
            <a:ext cx="190195" cy="1901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605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Safe Browsing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371600" y="446227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safebrowsing.google.com  |  Unsafe site and link detection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822960" y="4837176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4924958"/>
            <a:ext cx="190195" cy="19019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478231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— Open Worldwide Application Security Project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371600" y="508406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owasp.org  |  Social engineering &amp; web security resources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822960" y="5458968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5546750"/>
            <a:ext cx="190195" cy="19019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71600" y="540410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 Data Breach Investigations Report (DBIR)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371600" y="570585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verizon.com/dbir  |  Annual breach and phishing statistics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B2A47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1005840" cy="1005840"/>
          </a:xfrm>
          <a:prstGeom prst="ellipse">
            <a:avLst/>
          </a:prstGeom>
          <a:solidFill>
            <a:srgbClr val="2E4A7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2" y="97292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20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22960" y="274320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2841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697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you click — urgency is the attacker's favorite weapon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338328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3482035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sender, domain, and requests through a second channel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4122115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immediately — don't just delete them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822960" y="466344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4762195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17320" y="4617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awareness is the strongest defense technology can't fully replace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822960" y="5760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Questions &amp; discussion welcome.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1247120" y="64739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1717</Words>
  <Application>Microsoft Office PowerPoint</Application>
  <PresentationFormat>Widescreen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Akash</dc:creator>
  <cp:lastModifiedBy>akashmurali2006@gmail.com</cp:lastModifiedBy>
  <cp:revision>2</cp:revision>
  <dcterms:created xsi:type="dcterms:W3CDTF">2026-07-03T12:58:37Z</dcterms:created>
  <dcterms:modified xsi:type="dcterms:W3CDTF">2026-07-03T13:19:08Z</dcterms:modified>
</cp:coreProperties>
</file>